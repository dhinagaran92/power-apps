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ayfair Display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regular.fntdata"/><Relationship Id="rId10" Type="http://schemas.openxmlformats.org/officeDocument/2006/relationships/slide" Target="slides/slide5.xml"/><Relationship Id="rId13" Type="http://schemas.openxmlformats.org/officeDocument/2006/relationships/font" Target="fonts/PlayfairDisplay-italic.fntdata"/><Relationship Id="rId12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PlayfairDisplay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11" Type="http://schemas.openxmlformats.org/officeDocument/2006/relationships/image" Target="../media/image44.png"/><Relationship Id="rId10" Type="http://schemas.openxmlformats.org/officeDocument/2006/relationships/image" Target="../media/image9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46.png"/><Relationship Id="rId11" Type="http://schemas.openxmlformats.org/officeDocument/2006/relationships/image" Target="../media/image22.png"/><Relationship Id="rId10" Type="http://schemas.openxmlformats.org/officeDocument/2006/relationships/image" Target="../media/image20.png"/><Relationship Id="rId12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3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11" Type="http://schemas.openxmlformats.org/officeDocument/2006/relationships/image" Target="../media/image31.png"/><Relationship Id="rId22" Type="http://schemas.openxmlformats.org/officeDocument/2006/relationships/image" Target="../media/image35.png"/><Relationship Id="rId10" Type="http://schemas.openxmlformats.org/officeDocument/2006/relationships/image" Target="../media/image28.png"/><Relationship Id="rId21" Type="http://schemas.openxmlformats.org/officeDocument/2006/relationships/image" Target="../media/image45.png"/><Relationship Id="rId13" Type="http://schemas.openxmlformats.org/officeDocument/2006/relationships/image" Target="../media/image24.png"/><Relationship Id="rId12" Type="http://schemas.openxmlformats.org/officeDocument/2006/relationships/image" Target="../media/image39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15" Type="http://schemas.openxmlformats.org/officeDocument/2006/relationships/image" Target="../media/image32.png"/><Relationship Id="rId14" Type="http://schemas.openxmlformats.org/officeDocument/2006/relationships/image" Target="../media/image36.png"/><Relationship Id="rId17" Type="http://schemas.openxmlformats.org/officeDocument/2006/relationships/image" Target="../media/image40.png"/><Relationship Id="rId16" Type="http://schemas.openxmlformats.org/officeDocument/2006/relationships/image" Target="../media/image38.png"/><Relationship Id="rId5" Type="http://schemas.openxmlformats.org/officeDocument/2006/relationships/image" Target="../media/image26.png"/><Relationship Id="rId19" Type="http://schemas.openxmlformats.org/officeDocument/2006/relationships/image" Target="../media/image34.png"/><Relationship Id="rId6" Type="http://schemas.openxmlformats.org/officeDocument/2006/relationships/image" Target="../media/image43.png"/><Relationship Id="rId18" Type="http://schemas.openxmlformats.org/officeDocument/2006/relationships/image" Target="../media/image48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525553" y="1794569"/>
            <a:ext cx="714089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Streamlit File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0" u="none" cap="none" strike="noStrike">
                <a:solidFill>
                  <a:srgbClr val="A60A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Converter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695575" y="3756719"/>
            <a:ext cx="68008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Document Transformation &amp;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05275" y="4720530"/>
            <a:ext cx="5391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PYTHON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OPEN SOURCE 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0" y="481578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81578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4295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5311378"/>
            <a:ext cx="2857500" cy="11656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6750" y="571500"/>
            <a:ext cx="6400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66750" y="1247775"/>
            <a:ext cx="6096000" cy="28575"/>
          </a:xfrm>
          <a:prstGeom prst="rect">
            <a:avLst/>
          </a:prstGeom>
          <a:solidFill>
            <a:srgbClr val="A60A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1371600"/>
            <a:ext cx="6096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Current PDF conversion landscape creates significant business challenges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0" y="0"/>
            <a:ext cx="4762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239250" y="5520928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50%+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39250" y="5920978"/>
            <a:ext cx="228600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 office workers spend more time searching for files than working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238869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54121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69374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846266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699879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50299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238250" y="2388691"/>
            <a:ext cx="552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Fragmented Tools &amp; Inefficiency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38250" y="2626816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Multiple conversion tools lead to workflow delays and rework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365551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238250" y="3541216"/>
            <a:ext cx="552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Quality Degradation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238250" y="3779341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Formatting loss, OCR inaccuracy, and compatibility issues compromise output quality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480804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238250" y="4693741"/>
            <a:ext cx="552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Security &amp; Compliance Risks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38250" y="4931866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Online converters expose sensitive data; lack of audit trails creates compliance gaps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596056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238250" y="5846266"/>
            <a:ext cx="552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Interoperability Pressures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38250" y="6084391"/>
            <a:ext cx="552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Growing need for accessible formats (HTML, DOCX) and structured data extraction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7237" y="7113091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1238250" y="6998791"/>
            <a:ext cx="5524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Developer Friction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238250" y="7236916"/>
            <a:ext cx="5524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Maintaining custom conversion scripts across teams increases technical debt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0819"/>
            <a:ext cx="1281112" cy="312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614660"/>
            <a:ext cx="5200650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Vision: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AI-Powered Features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285467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Next-generation capabilities to transform document processing with intelligence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23900" y="187969"/>
            <a:ext cx="97631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COMING SOON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0239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0812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13858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519588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25319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381669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104900" y="3702397"/>
            <a:ext cx="441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AI Summarization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104900" y="3930997"/>
            <a:ext cx="44196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Automatically generate executive summaries from lengthy PDFs</a:t>
            </a:r>
            <a:endParaRPr/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987" y="442242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1104900" y="4308127"/>
            <a:ext cx="441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Question &amp; Answer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104900" y="4536727"/>
            <a:ext cx="44196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Ask questions and get grounded answers using RAG over PDF content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502815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104900" y="4913858"/>
            <a:ext cx="441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Structured Extraction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04900" y="5142458"/>
            <a:ext cx="44196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Extract tables, entities, and key data with optional PII redaction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987" y="563388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104900" y="5519588"/>
            <a:ext cx="441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 &amp; On-Prem Connectors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104900" y="5748188"/>
            <a:ext cx="44196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Integrate with S3, Google Drive, SharePoint; on-premise friendly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5800" y="623961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1104900" y="6125319"/>
            <a:ext cx="441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Enterprise Governance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104900" y="6353919"/>
            <a:ext cx="44196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Access controls, encryption at rest/in transit, comprehensive audit logs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104828"/>
            <a:ext cx="108585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4314378"/>
            <a:ext cx="102489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19658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499270"/>
            <a:ext cx="2286000" cy="136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0150" y="19658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87650" y="2499270"/>
            <a:ext cx="2286000" cy="136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551" y="19658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8051" y="2499270"/>
            <a:ext cx="2286000" cy="136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00952" y="19658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452" y="2499270"/>
            <a:ext cx="2286000" cy="13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666750" y="476250"/>
            <a:ext cx="114014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Roadmap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66750" y="1375320"/>
            <a:ext cx="10858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Quarterly implementation plan with clear milestones and measurable outcomes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238250" y="2156370"/>
            <a:ext cx="97155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047750" y="268977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Foundation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3778150" y="268977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Scale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508551" y="268977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Intelligence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238952" y="2689770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Enterprise</a:t>
            </a:r>
            <a:endParaRPr/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1550" y="463822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1371600" y="4714428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Conversion Success Rate</a:t>
            </a:r>
            <a:endParaRPr/>
          </a:p>
        </p:txBody>
      </p:sp>
      <p:pic>
        <p:nvPicPr>
          <p:cNvPr descr="image.png" id="176" name="Google Shape;17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03625" y="463822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4403675" y="4714428"/>
            <a:ext cx="1038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Time-to-Convert</a:t>
            </a:r>
            <a:endParaRPr/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40400" y="463822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6940450" y="4714428"/>
            <a:ext cx="1562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Net Promoter Score (NPS)</a:t>
            </a:r>
            <a:endParaRPr/>
          </a:p>
        </p:txBody>
      </p:sp>
      <p:pic>
        <p:nvPicPr>
          <p:cNvPr descr="image.png" id="180" name="Google Shape;18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01051" y="463822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10001101" y="4714428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Answer Accuracy</a:t>
            </a:r>
            <a:endParaRPr/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6800" y="4723953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089350" y="472395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16600" y="4723953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686776" y="472395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47750" y="302314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1276350" y="3004095"/>
            <a:ext cx="12192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UX polish &amp; reliability</a:t>
            </a:r>
            <a:endParaRPr/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47750" y="32725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1276350" y="3253531"/>
            <a:ext cx="15240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Performance optimization</a:t>
            </a:r>
            <a:endParaRPr/>
          </a:p>
        </p:txBody>
      </p:sp>
      <p:pic>
        <p:nvPicPr>
          <p:cNvPr descr="image.png" id="190" name="Google Shape;190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47750" y="352201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1276350" y="3502967"/>
            <a:ext cx="14192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Extend format coverage</a:t>
            </a:r>
            <a:endParaRPr/>
          </a:p>
        </p:txBody>
      </p:sp>
      <p:pic>
        <p:nvPicPr>
          <p:cNvPr descr="image.png" id="192" name="Google Shape;192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778150" y="302314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4006750" y="3004095"/>
            <a:ext cx="10382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Batch processing</a:t>
            </a:r>
            <a:endParaRPr/>
          </a:p>
        </p:txBody>
      </p:sp>
      <p:pic>
        <p:nvPicPr>
          <p:cNvPr descr="image.png" id="194" name="Google Shape;194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778150" y="32725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4006750" y="3253531"/>
            <a:ext cx="1343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REST API development</a:t>
            </a:r>
            <a:endParaRPr/>
          </a:p>
        </p:txBody>
      </p:sp>
      <p:pic>
        <p:nvPicPr>
          <p:cNvPr descr="image.png" id="196" name="Google Shape;196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778150" y="352201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4006750" y="3502967"/>
            <a:ext cx="11811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Queue &amp; monitoring</a:t>
            </a:r>
            <a:endParaRPr/>
          </a:p>
        </p:txBody>
      </p:sp>
      <p:pic>
        <p:nvPicPr>
          <p:cNvPr descr="image.png" id="198" name="Google Shape;198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08551" y="302314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 txBox="1"/>
          <p:nvPr/>
        </p:nvSpPr>
        <p:spPr>
          <a:xfrm>
            <a:off x="6737151" y="3004095"/>
            <a:ext cx="13716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MVP: Summarization</a:t>
            </a:r>
            <a:endParaRPr/>
          </a:p>
        </p:txBody>
      </p:sp>
      <p:pic>
        <p:nvPicPr>
          <p:cNvPr descr="image.png" id="200" name="Google Shape;200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08551" y="32725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6737151" y="3253531"/>
            <a:ext cx="9525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Q&amp;A capabilities</a:t>
            </a:r>
            <a:endParaRPr/>
          </a:p>
        </p:txBody>
      </p:sp>
      <p:pic>
        <p:nvPicPr>
          <p:cNvPr descr="image.png" id="202" name="Google Shape;202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08551" y="352201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6737151" y="3502967"/>
            <a:ext cx="13239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Evaluation &amp; guardrails</a:t>
            </a:r>
            <a:endParaRPr/>
          </a:p>
        </p:txBody>
      </p:sp>
      <p:pic>
        <p:nvPicPr>
          <p:cNvPr descr="image.png" id="204" name="Google Shape;204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38952" y="302314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9467552" y="3004095"/>
            <a:ext cx="12858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SSO/RBAC integration</a:t>
            </a:r>
            <a:endParaRPr/>
          </a:p>
        </p:txBody>
      </p:sp>
      <p:pic>
        <p:nvPicPr>
          <p:cNvPr descr="image.png" id="206" name="Google Shape;206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238952" y="32725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/>
        </p:nvSpPr>
        <p:spPr>
          <a:xfrm>
            <a:off x="9467552" y="3253531"/>
            <a:ext cx="14192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 logs &amp; compliance</a:t>
            </a:r>
            <a:endParaRPr/>
          </a:p>
        </p:txBody>
      </p:sp>
      <p:pic>
        <p:nvPicPr>
          <p:cNvPr descr="image.png" id="208" name="Google Shape;208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238952" y="352201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 txBox="1"/>
          <p:nvPr/>
        </p:nvSpPr>
        <p:spPr>
          <a:xfrm>
            <a:off x="9467552" y="3502967"/>
            <a:ext cx="14478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On-premise deployment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Next Steps &amp; Questions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95300" y="2577405"/>
            <a:ext cx="1120140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Q&amp;A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62000" y="403473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Let's discuss how to accelerate implementation and maximize ROI.</a:t>
            </a:r>
            <a:endParaRPr/>
          </a:p>
        </p:txBody>
      </p:sp>
      <p:pic>
        <p:nvPicPr>
          <p:cNvPr descr="image.png"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150" y="514722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514722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