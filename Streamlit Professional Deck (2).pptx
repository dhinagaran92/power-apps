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Inter" panose="020B0604020202020204" charset="0"/>
      <p:regular r:id="rId8"/>
      <p:bold r:id="rId9"/>
      <p:italic r:id="rId10"/>
      <p:boldItalic r:id="rId11"/>
    </p:embeddedFont>
    <p:embeddedFont>
      <p:font typeface="Playfair Display" panose="00000500000000000000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3440668" y="2118419"/>
            <a:ext cx="5310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File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800" b="1" i="0" u="none" strike="noStrike" cap="none">
                <a:solidFill>
                  <a:srgbClr val="A60A1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Converter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3050574" y="3554600"/>
            <a:ext cx="5574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Secure Document Transformation &amp; Intelligence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790162" y="4396531"/>
            <a:ext cx="3648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 PYTHON </a:t>
            </a:r>
            <a:r>
              <a:rPr lang="en-US" sz="1200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OPEN SOURCE </a:t>
            </a:r>
            <a:endParaRPr/>
          </a:p>
        </p:txBody>
      </p:sp>
      <p:pic>
        <p:nvPicPr>
          <p:cNvPr id="87" name="Google Shape;87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0" y="4491781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05325" y="4412731"/>
            <a:ext cx="1333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4662487"/>
            <a:ext cx="4743450" cy="150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67450" y="2784127"/>
            <a:ext cx="51625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57975" y="3174652"/>
            <a:ext cx="1333500" cy="11239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Problem &amp; Architecture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762000" y="1247775"/>
            <a:ext cx="10668000" cy="28575"/>
          </a:xfrm>
          <a:prstGeom prst="rect">
            <a:avLst/>
          </a:prstGeom>
          <a:solidFill>
            <a:srgbClr val="A60A1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762000" y="1890712"/>
            <a:ext cx="498062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38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Current Challenges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267450" y="4832002"/>
            <a:ext cx="51625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Figure 1: High-Level System Architecture</a:t>
            </a:r>
            <a:endParaRPr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190976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847725" y="231933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52500" y="2319337"/>
            <a:ext cx="4552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Inefficiency: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Manual format conversion creates bottlenecks in workflows.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47725" y="304323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52500" y="3043237"/>
            <a:ext cx="4552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Fragmented Tools: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Using multiple disparate tools increases security risks and licensing costs.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47725" y="376713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52500" y="3767137"/>
            <a:ext cx="4552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Loss of Data: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Inconsistent conversion quality leads to data loss.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762000" y="5091112"/>
            <a:ext cx="498062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38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Our Solution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762000" y="5557837"/>
            <a:ext cx="4743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unified, secure Streamlit application leveraging robust open-source Python libraries.</a:t>
            </a:r>
            <a:endParaRPr/>
          </a:p>
        </p:txBody>
      </p:sp>
      <p:pic>
        <p:nvPicPr>
          <p:cNvPr id="109" name="Google Shape;109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511016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7000875" y="3708052"/>
            <a:ext cx="6477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Input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(PDF/Doc)</a:t>
            </a:r>
            <a:endParaRPr/>
          </a:p>
        </p:txBody>
      </p:sp>
      <p:pic>
        <p:nvPicPr>
          <p:cNvPr id="111" name="Google Shape;111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748712" y="3384202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8181975" y="3708052"/>
            <a:ext cx="1333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Streamlit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(Processing)</a:t>
            </a:r>
            <a:endParaRPr/>
          </a:p>
        </p:txBody>
      </p:sp>
      <p:pic>
        <p:nvPicPr>
          <p:cNvPr id="113" name="Google Shape;113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44137" y="3384202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9705975" y="3708052"/>
            <a:ext cx="1333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Output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(JSON/XML)</a:t>
            </a:r>
            <a:endParaRPr/>
          </a:p>
        </p:txBody>
      </p:sp>
      <p:pic>
        <p:nvPicPr>
          <p:cNvPr id="115" name="Google Shape;115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210425" y="3384202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606129"/>
            <a:ext cx="3981450" cy="1918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4714875"/>
            <a:ext cx="3981450" cy="1918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05450" y="1921677"/>
            <a:ext cx="59245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95975" y="3250852"/>
            <a:ext cx="1333500" cy="97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762000" y="224879"/>
            <a:ext cx="112014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Future State: AI Integration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762000" y="901154"/>
            <a:ext cx="10668000" cy="28575"/>
          </a:xfrm>
          <a:prstGeom prst="rect">
            <a:avLst/>
          </a:prstGeom>
          <a:solidFill>
            <a:srgbClr val="A60A1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762000" y="1501229"/>
            <a:ext cx="3981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We are evolving from simple format conversion to intelligent document understanding.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5505450" y="5784502"/>
            <a:ext cx="59245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Figure 2: AI Summarization &amp; Q&amp;A Workflow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1038225" y="3072854"/>
            <a:ext cx="364045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1. Auto-Summarization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1038225" y="3463379"/>
            <a:ext cx="34671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Upload complex PDFs and receive instant executive summaries, identifying risks and key action items automatically.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1038225" y="5181600"/>
            <a:ext cx="364045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2. Interactive Q&amp;A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1038225" y="5572125"/>
            <a:ext cx="34671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Query the document directly (e.g., "What are the payment terms?") using embedded LLM capabilities.</a:t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7229475" y="3727102"/>
            <a:ext cx="571500" cy="19050"/>
          </a:xfrm>
          <a:prstGeom prst="roundRect">
            <a:avLst>
              <a:gd name="adj" fmla="val 16667"/>
            </a:avLst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9134475" y="3727102"/>
            <a:ext cx="381000" cy="19050"/>
          </a:xfrm>
          <a:prstGeom prst="roundRect">
            <a:avLst>
              <a:gd name="adj" fmla="val 16667"/>
            </a:avLst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6082665" y="3822352"/>
            <a:ext cx="96012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Document</a:t>
            </a:r>
            <a:endParaRPr/>
          </a:p>
        </p:txBody>
      </p:sp>
      <p:pic>
        <p:nvPicPr>
          <p:cNvPr id="135" name="Google Shape;13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34375" y="346040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/>
        </p:nvSpPr>
        <p:spPr>
          <a:xfrm>
            <a:off x="7987665" y="3822352"/>
            <a:ext cx="96012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LLM Model</a:t>
            </a:r>
            <a:endParaRPr/>
          </a:p>
        </p:txBody>
      </p:sp>
      <p:sp>
        <p:nvSpPr>
          <p:cNvPr id="137" name="Google Shape;137;p15"/>
          <p:cNvSpPr/>
          <p:nvPr/>
        </p:nvSpPr>
        <p:spPr>
          <a:xfrm>
            <a:off x="9229725" y="3050825"/>
            <a:ext cx="41400" cy="1371600"/>
          </a:xfrm>
          <a:prstGeom prst="roundRect">
            <a:avLst>
              <a:gd name="adj" fmla="val 16667"/>
            </a:avLst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62712" y="3455640"/>
            <a:ext cx="2000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5"/>
          <p:cNvSpPr/>
          <p:nvPr/>
        </p:nvSpPr>
        <p:spPr>
          <a:xfrm>
            <a:off x="9229725" y="3050827"/>
            <a:ext cx="285750" cy="19050"/>
          </a:xfrm>
          <a:prstGeom prst="roundRect">
            <a:avLst>
              <a:gd name="adj" fmla="val 16667"/>
            </a:avLst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9229725" y="4403377"/>
            <a:ext cx="285750" cy="19050"/>
          </a:xfrm>
          <a:prstGeom prst="roundRect">
            <a:avLst>
              <a:gd name="adj" fmla="val 16667"/>
            </a:avLst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39375" y="278412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5"/>
          <p:cNvSpPr txBox="1"/>
          <p:nvPr/>
        </p:nvSpPr>
        <p:spPr>
          <a:xfrm>
            <a:off x="9892665" y="3146077"/>
            <a:ext cx="96012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Summary</a:t>
            </a:r>
            <a:endParaRPr/>
          </a:p>
        </p:txBody>
      </p:sp>
      <p:pic>
        <p:nvPicPr>
          <p:cNvPr id="143" name="Google Shape;143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206037" y="4136677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5"/>
          <p:cNvSpPr txBox="1"/>
          <p:nvPr/>
        </p:nvSpPr>
        <p:spPr>
          <a:xfrm>
            <a:off x="9892665" y="4498627"/>
            <a:ext cx="96012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Q&amp;A Chat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4519612"/>
            <a:ext cx="3301900" cy="2421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44900" y="4519612"/>
            <a:ext cx="3302049" cy="2421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950" y="4519612"/>
            <a:ext cx="3301900" cy="2421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1812726"/>
            <a:ext cx="2346870" cy="1354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35709" y="1812726"/>
            <a:ext cx="2346870" cy="1354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09419" y="1812726"/>
            <a:ext cx="2346870" cy="1354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83129" y="1812726"/>
            <a:ext cx="2346870" cy="135433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762000" y="-82748"/>
            <a:ext cx="112014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Strategic Roadmap &amp; Projected Impact</a:t>
            </a:r>
            <a:endParaRPr/>
          </a:p>
        </p:txBody>
      </p:sp>
      <p:sp>
        <p:nvSpPr>
          <p:cNvPr id="157" name="Google Shape;157;p16"/>
          <p:cNvSpPr/>
          <p:nvPr/>
        </p:nvSpPr>
        <p:spPr>
          <a:xfrm>
            <a:off x="762000" y="593526"/>
            <a:ext cx="10668000" cy="28575"/>
          </a:xfrm>
          <a:prstGeom prst="rect">
            <a:avLst/>
          </a:prstGeom>
          <a:solidFill>
            <a:srgbClr val="A60A1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762000" y="1231701"/>
            <a:ext cx="112014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Delivery Phases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762000" y="3738562"/>
            <a:ext cx="112014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Business Value Metrics</a:t>
            </a:r>
            <a:endParaRPr/>
          </a:p>
        </p:txBody>
      </p:sp>
      <p:sp>
        <p:nvSpPr>
          <p:cNvPr id="160" name="Google Shape;160;p16"/>
          <p:cNvSpPr/>
          <p:nvPr/>
        </p:nvSpPr>
        <p:spPr>
          <a:xfrm>
            <a:off x="762000" y="3548062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260550" y="484346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6"/>
          <p:cNvSpPr txBox="1"/>
          <p:nvPr/>
        </p:nvSpPr>
        <p:spPr>
          <a:xfrm>
            <a:off x="1047750" y="5243512"/>
            <a:ext cx="273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50%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1047750" y="5748337"/>
            <a:ext cx="2730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EFFICIENCY GAIN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1047750" y="6053137"/>
            <a:ext cx="27304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Reduction in manual document processing time.</a:t>
            </a:r>
            <a:endParaRPr/>
          </a:p>
        </p:txBody>
      </p:sp>
      <p:pic>
        <p:nvPicPr>
          <p:cNvPr id="166" name="Google Shape;166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924401" y="4843462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6"/>
          <p:cNvSpPr txBox="1"/>
          <p:nvPr/>
        </p:nvSpPr>
        <p:spPr>
          <a:xfrm>
            <a:off x="4730650" y="5243512"/>
            <a:ext cx="273054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0%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4730650" y="5748337"/>
            <a:ext cx="2730549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LICENSING COST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4730650" y="6053137"/>
            <a:ext cx="2730549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Utilizing 100% open-source Python libraries.</a:t>
            </a:r>
            <a:endParaRPr/>
          </a:p>
        </p:txBody>
      </p:sp>
      <p:pic>
        <p:nvPicPr>
          <p:cNvPr id="170" name="Google Shape;170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645550" y="4843462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6"/>
          <p:cNvSpPr txBox="1"/>
          <p:nvPr/>
        </p:nvSpPr>
        <p:spPr>
          <a:xfrm>
            <a:off x="8413700" y="5243512"/>
            <a:ext cx="273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100%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8413700" y="5748337"/>
            <a:ext cx="2730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DATA PRIVACY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8413700" y="6053137"/>
            <a:ext cx="27304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Full control over data with no third-party API dependency.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913354" y="2012751"/>
            <a:ext cx="2044161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A60A1D"/>
                </a:solidFill>
                <a:latin typeface="Inter"/>
                <a:ea typeface="Inter"/>
                <a:cs typeface="Inter"/>
                <a:sym typeface="Inter"/>
              </a:rPr>
              <a:t>Q1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962025" y="2365176"/>
            <a:ext cx="194682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Core Converter App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(Live)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3687064" y="2012751"/>
            <a:ext cx="2044161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A60A1D"/>
                </a:solidFill>
                <a:latin typeface="Inter"/>
                <a:ea typeface="Inter"/>
                <a:cs typeface="Inter"/>
                <a:sym typeface="Inter"/>
              </a:rPr>
              <a:t>Q2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3735734" y="2365176"/>
            <a:ext cx="194682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Cloud Deployment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User Auth &amp; Security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6460774" y="2012751"/>
            <a:ext cx="2044161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A60A1D"/>
                </a:solidFill>
                <a:latin typeface="Inter"/>
                <a:ea typeface="Inter"/>
                <a:cs typeface="Inter"/>
                <a:sym typeface="Inter"/>
              </a:rPr>
              <a:t>Q3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6509444" y="2365176"/>
            <a:ext cx="194682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AI Integration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Summarization Model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9234483" y="2012751"/>
            <a:ext cx="2044161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A60A1D"/>
                </a:solidFill>
                <a:latin typeface="Inter"/>
                <a:ea typeface="Inter"/>
                <a:cs typeface="Inter"/>
                <a:sym typeface="Inter"/>
              </a:rPr>
              <a:t>Q4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9283154" y="2365176"/>
            <a:ext cx="194682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Enterprise Search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Interactive Q&amp;A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"/>
          <p:cNvSpPr txBox="1"/>
          <p:nvPr/>
        </p:nvSpPr>
        <p:spPr>
          <a:xfrm>
            <a:off x="762000" y="571500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Next Steps &amp; Questions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495300" y="2672655"/>
            <a:ext cx="11201400" cy="1133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1" i="0" u="none" strike="noStrike" cap="none" dirty="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Q/A</a:t>
            </a:r>
            <a:endParaRPr dirty="0"/>
          </a:p>
        </p:txBody>
      </p:sp>
      <p:sp>
        <p:nvSpPr>
          <p:cNvPr id="188" name="Google Shape;188;p17"/>
          <p:cNvSpPr txBox="1"/>
          <p:nvPr/>
        </p:nvSpPr>
        <p:spPr>
          <a:xfrm>
            <a:off x="762000" y="4129980"/>
            <a:ext cx="106680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Let's discuss how to accelerate implementations</a:t>
            </a:r>
            <a:endParaRPr dirty="0"/>
          </a:p>
        </p:txBody>
      </p:sp>
      <p:pic>
        <p:nvPicPr>
          <p:cNvPr id="189" name="Google Shape;18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1150" y="5242470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24600" y="5242470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268</Words>
  <Application>Microsoft Office PowerPoint</Application>
  <PresentationFormat>Widescreen</PresentationFormat>
  <Paragraphs>51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Inter</vt:lpstr>
      <vt:lpstr>Calibri</vt:lpstr>
      <vt:lpstr>Playfair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16855</cp:lastModifiedBy>
  <cp:revision>1</cp:revision>
  <dcterms:modified xsi:type="dcterms:W3CDTF">2025-12-03T10:29:08Z</dcterms:modified>
</cp:coreProperties>
</file>